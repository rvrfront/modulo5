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4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1.xml.rels" ContentType="application/vnd.openxmlformats-package.relationships+xml"/>
  <Override PartName="/ppt/slideLayouts/slideLayout1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5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0080625" cy="567055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4426920" cy="275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2376000"/>
            <a:ext cx="4426920" cy="275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810000"/>
            <a:ext cx="9071640" cy="6008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2376000"/>
            <a:ext cx="4426920" cy="275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81492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4426920" cy="275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381492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3814920"/>
            <a:ext cx="907164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164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3814920"/>
            <a:ext cx="907164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04000" y="381492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152680" y="381492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292068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71200" y="2376000"/>
            <a:ext cx="292068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638040" y="2376000"/>
            <a:ext cx="292068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4000" y="3814920"/>
            <a:ext cx="292068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71200" y="3814920"/>
            <a:ext cx="292068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638040" y="3814920"/>
            <a:ext cx="292068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4426920" cy="275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5152680" y="2376000"/>
            <a:ext cx="4426920" cy="275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4000" y="810000"/>
            <a:ext cx="9071640" cy="6008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5152680" y="2376000"/>
            <a:ext cx="4426920" cy="275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504000" y="381492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4426920" cy="275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5152680" y="381492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504000" y="3814920"/>
            <a:ext cx="907164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164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504000" y="3814920"/>
            <a:ext cx="907164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504000" y="381492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5152680" y="381492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292068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571200" y="2376000"/>
            <a:ext cx="292068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638040" y="2376000"/>
            <a:ext cx="292068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504000" y="3814920"/>
            <a:ext cx="292068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571200" y="3814920"/>
            <a:ext cx="292068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638040" y="3814920"/>
            <a:ext cx="292068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4426920" cy="275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5152680" y="2376000"/>
            <a:ext cx="4426920" cy="275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504000" y="810000"/>
            <a:ext cx="9071640" cy="6008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5152680" y="2376000"/>
            <a:ext cx="4426920" cy="275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504000" y="381492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4426920" cy="275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5152680" y="381492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504000" y="3814920"/>
            <a:ext cx="907164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164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504000" y="3814920"/>
            <a:ext cx="907164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504000" y="381492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5152680" y="381492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292068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571200" y="2376000"/>
            <a:ext cx="292068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638040" y="2376000"/>
            <a:ext cx="292068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504000" y="3814920"/>
            <a:ext cx="292068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571200" y="3814920"/>
            <a:ext cx="292068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638040" y="3814920"/>
            <a:ext cx="292068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4426920" cy="275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5152680" y="2376000"/>
            <a:ext cx="4426920" cy="275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504000" y="810000"/>
            <a:ext cx="9071640" cy="6008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5152680" y="2376000"/>
            <a:ext cx="4426920" cy="275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body"/>
          </p:nvPr>
        </p:nvSpPr>
        <p:spPr>
          <a:xfrm>
            <a:off x="504000" y="381492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4426920" cy="275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body"/>
          </p:nvPr>
        </p:nvSpPr>
        <p:spPr>
          <a:xfrm>
            <a:off x="5152680" y="381492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504000" y="3814920"/>
            <a:ext cx="907164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164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504000" y="3814920"/>
            <a:ext cx="907164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body"/>
          </p:nvPr>
        </p:nvSpPr>
        <p:spPr>
          <a:xfrm>
            <a:off x="504000" y="381492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body"/>
          </p:nvPr>
        </p:nvSpPr>
        <p:spPr>
          <a:xfrm>
            <a:off x="5152680" y="3814920"/>
            <a:ext cx="442692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292068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body"/>
          </p:nvPr>
        </p:nvSpPr>
        <p:spPr>
          <a:xfrm>
            <a:off x="3571200" y="2376000"/>
            <a:ext cx="292068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body"/>
          </p:nvPr>
        </p:nvSpPr>
        <p:spPr>
          <a:xfrm>
            <a:off x="6638040" y="2376000"/>
            <a:ext cx="292068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 type="body"/>
          </p:nvPr>
        </p:nvSpPr>
        <p:spPr>
          <a:xfrm>
            <a:off x="504000" y="3814920"/>
            <a:ext cx="292068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 type="body"/>
          </p:nvPr>
        </p:nvSpPr>
        <p:spPr>
          <a:xfrm>
            <a:off x="3571200" y="3814920"/>
            <a:ext cx="292068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 type="body"/>
          </p:nvPr>
        </p:nvSpPr>
        <p:spPr>
          <a:xfrm>
            <a:off x="6638040" y="3814920"/>
            <a:ext cx="2920680" cy="1313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15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s-ES" sz="315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5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5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5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5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516492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s-E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5164920"/>
            <a:ext cx="319500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0" lang="es-E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516492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fld id="{EF7CE929-F56E-4E61-B73E-56FB18AA8458}" type="slidenum">
              <a:rPr b="0" lang="es-E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s-ES" sz="3300" spc="-1" strike="noStrike">
                <a:latin typeface="Arial"/>
              </a:rPr>
              <a:t>Click to edit the title text format</a:t>
            </a:r>
            <a:endParaRPr b="0" lang="es-ES" sz="33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latin typeface="Arial"/>
              </a:rPr>
              <a:t>Click to edit the outline text format</a:t>
            </a:r>
            <a:endParaRPr b="0" lang="es-ES" sz="2400" spc="-1" strike="noStrike"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100" spc="-1" strike="noStrike">
                <a:latin typeface="Arial"/>
              </a:rPr>
              <a:t>Second Outline Level</a:t>
            </a:r>
            <a:endParaRPr b="0" lang="es-ES" sz="2100" spc="-1" strike="noStrike">
              <a:latin typeface="Arial"/>
            </a:endParaRPr>
          </a:p>
          <a:p>
            <a:pPr lvl="2" marL="1296000" indent="-288000"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Third Outline Level</a:t>
            </a:r>
            <a:endParaRPr b="0" lang="es-ES" sz="1800" spc="-1" strike="noStrike">
              <a:latin typeface="Arial"/>
            </a:endParaRPr>
          </a:p>
          <a:p>
            <a:pPr lvl="3" marL="1728000" indent="-216000"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500" spc="-1" strike="noStrike">
                <a:latin typeface="Arial"/>
              </a:rPr>
              <a:t>Fourth Outline Level</a:t>
            </a:r>
            <a:endParaRPr b="0" lang="es-ES" sz="1500" spc="-1" strike="noStrike">
              <a:latin typeface="Arial"/>
            </a:endParaRPr>
          </a:p>
          <a:p>
            <a:pPr lvl="4" marL="2160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500" spc="-1" strike="noStrike">
                <a:latin typeface="Arial"/>
              </a:rPr>
              <a:t>Fifth Outline Level</a:t>
            </a:r>
            <a:endParaRPr b="0" lang="es-ES" sz="1500" spc="-1" strike="noStrike">
              <a:latin typeface="Arial"/>
            </a:endParaRPr>
          </a:p>
          <a:p>
            <a:pPr lvl="5" marL="2592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500" spc="-1" strike="noStrike">
                <a:latin typeface="Arial"/>
              </a:rPr>
              <a:t>Sixth Outline Level</a:t>
            </a:r>
            <a:endParaRPr b="0" lang="es-ES" sz="1500" spc="-1" strike="noStrike">
              <a:latin typeface="Arial"/>
            </a:endParaRPr>
          </a:p>
          <a:p>
            <a:pPr lvl="6" marL="3024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500" spc="-1" strike="noStrike">
                <a:latin typeface="Arial"/>
              </a:rPr>
              <a:t>Seventh Outline Level</a:t>
            </a:r>
            <a:endParaRPr b="0" lang="es-ES" sz="15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9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s-ES" sz="1400" spc="-1" strike="noStrike">
                <a:latin typeface="Arial"/>
              </a:rPr>
              <a:t>&lt;date/time&gt;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0" lang="es-ES" sz="1400" spc="-1" strike="noStrike">
                <a:latin typeface="Arial"/>
              </a:rPr>
              <a:t>&lt;footer&gt;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fld id="{80FD4E9F-3870-4E2F-8A4E-41357AAE20C3}" type="slidenum">
              <a:rPr b="0" lang="es-ES" sz="1400" spc="-1" strike="noStrike">
                <a:latin typeface="Arial"/>
              </a:rPr>
              <a:t>&lt;number&gt;</a:t>
            </a:fld>
            <a:endParaRPr b="0" lang="es-ES" sz="14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15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s-ES" sz="315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5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5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5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5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/>
          </p:nvPr>
        </p:nvSpPr>
        <p:spPr>
          <a:xfrm>
            <a:off x="504000" y="516492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s-E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ftr"/>
          </p:nvPr>
        </p:nvSpPr>
        <p:spPr>
          <a:xfrm>
            <a:off x="3447360" y="5164920"/>
            <a:ext cx="319500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0" lang="es-E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sldNum"/>
          </p:nvPr>
        </p:nvSpPr>
        <p:spPr>
          <a:xfrm>
            <a:off x="7227360" y="516492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fld id="{25422F5A-7F17-4ACB-B66C-4145F5473311}" type="slidenum">
              <a:rPr b="0" lang="es-E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s-ES" sz="3300" spc="-1" strike="noStrike">
                <a:latin typeface="Arial"/>
              </a:rPr>
              <a:t>Click to edit the title text format</a:t>
            </a:r>
            <a:endParaRPr b="0" lang="es-ES" sz="33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latin typeface="Arial"/>
              </a:rPr>
              <a:t>Click to edit the outline text format</a:t>
            </a:r>
            <a:endParaRPr b="0" lang="es-ES" sz="2400" spc="-1" strike="noStrike"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100" spc="-1" strike="noStrike">
                <a:latin typeface="Arial"/>
              </a:rPr>
              <a:t>Second Outline Level</a:t>
            </a:r>
            <a:endParaRPr b="0" lang="es-ES" sz="2100" spc="-1" strike="noStrike">
              <a:latin typeface="Arial"/>
            </a:endParaRPr>
          </a:p>
          <a:p>
            <a:pPr lvl="2" marL="1296000" indent="-288000"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Third Outline Level</a:t>
            </a:r>
            <a:endParaRPr b="0" lang="es-ES" sz="1800" spc="-1" strike="noStrike">
              <a:latin typeface="Arial"/>
            </a:endParaRPr>
          </a:p>
          <a:p>
            <a:pPr lvl="3" marL="1728000" indent="-216000"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500" spc="-1" strike="noStrike">
                <a:latin typeface="Arial"/>
              </a:rPr>
              <a:t>Fourth Outline Level</a:t>
            </a:r>
            <a:endParaRPr b="0" lang="es-ES" sz="1500" spc="-1" strike="noStrike">
              <a:latin typeface="Arial"/>
            </a:endParaRPr>
          </a:p>
          <a:p>
            <a:pPr lvl="4" marL="2160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500" spc="-1" strike="noStrike">
                <a:latin typeface="Arial"/>
              </a:rPr>
              <a:t>Fifth Outline Level</a:t>
            </a:r>
            <a:endParaRPr b="0" lang="es-ES" sz="1500" spc="-1" strike="noStrike">
              <a:latin typeface="Arial"/>
            </a:endParaRPr>
          </a:p>
          <a:p>
            <a:pPr lvl="5" marL="2592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500" spc="-1" strike="noStrike">
                <a:latin typeface="Arial"/>
              </a:rPr>
              <a:t>Sixth Outline Level</a:t>
            </a:r>
            <a:endParaRPr b="0" lang="es-ES" sz="1500" spc="-1" strike="noStrike">
              <a:latin typeface="Arial"/>
            </a:endParaRPr>
          </a:p>
          <a:p>
            <a:pPr lvl="6" marL="3024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500" spc="-1" strike="noStrike">
                <a:latin typeface="Arial"/>
              </a:rPr>
              <a:t>Seventh Outline Level</a:t>
            </a:r>
            <a:endParaRPr b="0" lang="es-ES" sz="15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9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s-ES" sz="1400" spc="-1" strike="noStrike">
                <a:latin typeface="Arial"/>
              </a:rPr>
              <a:t>&lt;date/time&gt;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0" lang="es-ES" sz="1400" spc="-1" strike="noStrike">
                <a:latin typeface="Arial"/>
              </a:rPr>
              <a:t>&lt;footer&gt;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fld id="{0F5B5CD2-2562-46AF-AF0B-8F954E02810D}" type="slidenum">
              <a:rPr b="0" lang="es-ES" sz="1400" spc="-1" strike="noStrike">
                <a:latin typeface="Arial"/>
              </a:rPr>
              <a:t>&lt;number&gt;</a:t>
            </a:fld>
            <a:endParaRPr b="0" lang="es-ES" sz="14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 txBox="1"/>
          <p:nvPr/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Práctica módulo 5 – opción A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Raúl Vergel Romero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 txBox="1"/>
          <p:nvPr/>
        </p:nvSpPr>
        <p:spPr>
          <a:xfrm>
            <a:off x="1440360" y="313200"/>
            <a:ext cx="7199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3600" spc="-1" strike="noStrike">
                <a:solidFill>
                  <a:srgbClr val="000000"/>
                </a:solidFill>
                <a:latin typeface="Arial"/>
              </a:rPr>
              <a:t>Preparación de los datos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180000" y="2520000"/>
            <a:ext cx="837720" cy="294840"/>
          </a:xfrm>
          <a:prstGeom prst="rect">
            <a:avLst/>
          </a:prstGeom>
          <a:ln w="18000">
            <a:noFill/>
          </a:ln>
        </p:spPr>
      </p:pic>
      <p:sp>
        <p:nvSpPr>
          <p:cNvPr id="168" name=""/>
          <p:cNvSpPr txBox="1"/>
          <p:nvPr/>
        </p:nvSpPr>
        <p:spPr>
          <a:xfrm>
            <a:off x="1440360" y="1573200"/>
            <a:ext cx="7199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2200" spc="-1" strike="noStrike">
                <a:solidFill>
                  <a:srgbClr val="000000"/>
                </a:solidFill>
                <a:latin typeface="Arial"/>
              </a:rPr>
              <a:t>Antes de proceder con el pronóstico o estimación del valor del precio de alquiler de Airbnb en New York hay que proceder a limpiar el dataset.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1440000" y="2880000"/>
            <a:ext cx="7199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2200" spc="-1" strike="noStrike">
                <a:solidFill>
                  <a:srgbClr val="000000"/>
                </a:solidFill>
                <a:latin typeface="Arial"/>
              </a:rPr>
              <a:t>Eliminando todos aquellos elementos NotANumber del dataset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1440000" y="4140000"/>
            <a:ext cx="7199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2200" spc="-1" strike="noStrike">
                <a:solidFill>
                  <a:srgbClr val="000000"/>
                </a:solidFill>
                <a:latin typeface="Arial"/>
              </a:rPr>
              <a:t>Eliminando todos aquellos elementos que se consideran outliers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 txBox="1"/>
          <p:nvPr/>
        </p:nvSpPr>
        <p:spPr>
          <a:xfrm>
            <a:off x="1440720" y="274680"/>
            <a:ext cx="7199640" cy="102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3600" spc="-1" strike="noStrike">
                <a:solidFill>
                  <a:srgbClr val="000000"/>
                </a:solidFill>
                <a:latin typeface="Arial"/>
              </a:rPr>
              <a:t>Comprobación de valores de las categorías del dataset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1440720" y="1573200"/>
            <a:ext cx="7199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2200" spc="-1" strike="noStrike">
                <a:solidFill>
                  <a:srgbClr val="000000"/>
                </a:solidFill>
                <a:latin typeface="Arial"/>
              </a:rPr>
              <a:t>Se analizan las series que componen los valores de cada una de las categorias del dataset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1440000" y="2700000"/>
            <a:ext cx="7199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2200" spc="-1" strike="noStrike">
                <a:solidFill>
                  <a:srgbClr val="000000"/>
                </a:solidFill>
                <a:latin typeface="Arial"/>
              </a:rPr>
              <a:t>Para comprobar mas exhaustivamente que en esa determinada categoría no haya valores dispares u outliers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1440000" y="3646800"/>
            <a:ext cx="7199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2200" spc="-1" strike="noStrike">
                <a:solidFill>
                  <a:srgbClr val="000000"/>
                </a:solidFill>
                <a:latin typeface="Arial"/>
              </a:rPr>
              <a:t>En caso que hay algún elemento dispar se procede a su eliminación de esa fila del dataset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"/>
          <p:cNvSpPr txBox="1"/>
          <p:nvPr/>
        </p:nvSpPr>
        <p:spPr>
          <a:xfrm>
            <a:off x="1441080" y="313560"/>
            <a:ext cx="7199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3600" spc="-1" strike="noStrike">
                <a:solidFill>
                  <a:srgbClr val="000000"/>
                </a:solidFill>
                <a:latin typeface="Arial"/>
              </a:rPr>
              <a:t>Estudio de matrices de correlación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1441080" y="1573560"/>
            <a:ext cx="7199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2200" spc="-1" strike="noStrike">
                <a:solidFill>
                  <a:srgbClr val="000000"/>
                </a:solidFill>
                <a:latin typeface="Arial"/>
              </a:rPr>
              <a:t>Se estudia mediante gráficos de correlación, que categorías presentan mayor correlación con la categoría precio 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1440000" y="3013200"/>
            <a:ext cx="7199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2200" spc="-1" strike="noStrike">
                <a:solidFill>
                  <a:srgbClr val="000000"/>
                </a:solidFill>
                <a:latin typeface="Arial"/>
              </a:rPr>
              <a:t>Sólo las tres categorías que presenten mayor correlación serán consideradas en el momento de efectuar el cálculo del pronóstico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"/>
          <p:cNvSpPr txBox="1"/>
          <p:nvPr/>
        </p:nvSpPr>
        <p:spPr>
          <a:xfrm>
            <a:off x="1441440" y="275040"/>
            <a:ext cx="7199640" cy="102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3600" spc="-1" strike="noStrike">
                <a:solidFill>
                  <a:srgbClr val="000000"/>
                </a:solidFill>
                <a:latin typeface="Arial"/>
              </a:rPr>
              <a:t>Test de bondad y ajuste a categoría precio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1441440" y="1573560"/>
            <a:ext cx="7199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Antes de proceder a efectuar un pronóstico sobre una categoría del dataset se determina la Cumulative Frecuency Distribution (CFD) de la categoría precio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440360" y="2520360"/>
            <a:ext cx="7199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 procede con tests de ajuste de Kolmogorov-Smirnov (KS) y Anderson-Darling (AD) con distribución Normal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1440000" y="3467160"/>
            <a:ext cx="7199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 plantean hipótesis:</a:t>
            </a:r>
            <a:br/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Ho: Categoría precio se ajusta a una distribución Normal</a:t>
            </a:r>
            <a:br/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Hi: Categoría precio no se ajusta a una distribución Normal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1440000" y="4500000"/>
            <a:ext cx="7199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En caso que se afirme hipótesis Hi no se prosigue con pronóstico, ya que la categoría precio es aleatoria. En caso que se afirme Ho se procede con pronóstico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 txBox="1"/>
          <p:nvPr/>
        </p:nvSpPr>
        <p:spPr>
          <a:xfrm>
            <a:off x="1441800" y="275400"/>
            <a:ext cx="7199640" cy="102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3600" spc="-1" strike="noStrike">
                <a:solidFill>
                  <a:srgbClr val="000000"/>
                </a:solidFill>
                <a:latin typeface="Arial"/>
              </a:rPr>
              <a:t>Se divide el dataset en tres grandes distritos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1437840" y="1573560"/>
            <a:ext cx="7199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 prefiere dividir el dataset en tres datasets distintos con objeto de desacoplar posibles dependencias entre categorías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"/>
          <p:cNvSpPr txBox="1"/>
          <p:nvPr/>
        </p:nvSpPr>
        <p:spPr>
          <a:xfrm rot="8400">
            <a:off x="1440000" y="2693880"/>
            <a:ext cx="2159640" cy="18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Distritos:</a:t>
            </a:r>
            <a:br/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Manhattan</a:t>
            </a:r>
            <a:br/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Brooklyn</a:t>
            </a:r>
            <a:br/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Queens</a:t>
            </a:r>
            <a:br/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86" name=""/>
          <p:cNvCxnSpPr/>
          <p:nvPr/>
        </p:nvCxnSpPr>
        <p:spPr>
          <a:xfrm>
            <a:off x="3060000" y="3595680"/>
            <a:ext cx="1573920" cy="1332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87" name=""/>
          <p:cNvSpPr txBox="1"/>
          <p:nvPr/>
        </p:nvSpPr>
        <p:spPr>
          <a:xfrm rot="8400">
            <a:off x="4680720" y="3065040"/>
            <a:ext cx="413784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Para cada distrito se efectúa un pronóstico del precio en esa zona</a:t>
            </a:r>
            <a:br/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 rot="8400">
            <a:off x="1440000" y="2693520"/>
            <a:ext cx="1619640" cy="18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Distritos:</a:t>
            </a:r>
            <a:br/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Manhattan</a:t>
            </a:r>
            <a:br/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Brooklyn</a:t>
            </a:r>
            <a:br/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Queens</a:t>
            </a:r>
            <a:br/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 rot="8400">
            <a:off x="1619280" y="4368960"/>
            <a:ext cx="6660360" cy="103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 efectuará el pronóstico con una red neuronal densa</a:t>
            </a:r>
            <a:br/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90" name=""/>
          <p:cNvCxnSpPr>
            <a:stCxn id="187" idx="2"/>
            <a:endCxn id="189" idx="0"/>
          </p:cNvCxnSpPr>
          <p:nvPr/>
        </p:nvCxnSpPr>
        <p:spPr>
          <a:xfrm flipH="1">
            <a:off x="4950720" y="3965040"/>
            <a:ext cx="1798560" cy="40464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 txBox="1"/>
          <p:nvPr/>
        </p:nvSpPr>
        <p:spPr>
          <a:xfrm>
            <a:off x="3600000" y="2340000"/>
            <a:ext cx="1800000" cy="102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7200" spc="-1" strike="noStrike">
                <a:solidFill>
                  <a:srgbClr val="000000"/>
                </a:solidFill>
                <a:latin typeface="Arial"/>
              </a:rPr>
              <a:t>Fin</a:t>
            </a:r>
            <a:endParaRPr b="0" lang="es-ES" sz="7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LibreOffice/7.1.1.2$MacOSX_X86_64 LibreOffice_project/fe0b08f4af1bacafe4c7ecc87ce55bb426164676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2021-05-15T03:03:13Z</dcterms:created>
  <dc:creator/>
  <dc:description/>
  <dc:language>es-ES</dc:language>
  <cp:lastModifiedBy/>
  <dcterms:modified xsi:type="dcterms:W3CDTF">2021-05-15T03:36:51Z</dcterms:modified>
  <cp:revision>2</cp:revision>
  <dc:subject/>
  <dc:title>Blueprint Plans</dc:title>
</cp:coreProperties>
</file>